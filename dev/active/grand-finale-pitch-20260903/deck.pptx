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Quick Case · KRW 250M · Would You Bid?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Quick Case · KRW 250M · Would You Bid?</a:t>
            </a:r>
          </a:p>
          <a:p>
            <a:pPr>
              <a:defRPr sz="1800">
                <a:latin typeface="Aptos"/>
              </a:defRPr>
            </a:pPr>
            <a:r>
              <a:t>Technical 90 | Price 10 | PURSUE or NO-GO</a:t>
            </a:r>
          </a:p>
        </p:txBody>
      </p:sp>
      <p:pic>
        <p:nvPicPr>
          <p:cNvPr id="3" name="Rendered visual layer | slide 0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The Missing Answer · REVIEW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The Missing Answer · REVIEW</a:t>
            </a:r>
          </a:p>
          <a:p>
            <a:pPr>
              <a:defRPr sz="1800">
                <a:latin typeface="Aptos"/>
              </a:defRPr>
            </a:pPr>
            <a:r>
              <a:t>Four unsupported supplier requirements | Real public tender | Synthetic demo supplier profile</a:t>
            </a:r>
          </a:p>
        </p:txBody>
      </p:sp>
      <p:pic>
        <p:nvPicPr>
          <p:cNvPr id="3" name="Rendered visual layer | slide 02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Sergio Lee · USCPA · Government-Support Programs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Sergio Lee · USCPA · Government-Support Programs</a:t>
            </a:r>
          </a:p>
          <a:p>
            <a:pPr>
              <a:defRPr sz="1800">
                <a:latin typeface="Aptos"/>
              </a:defRPr>
            </a:pPr>
            <a:r>
              <a:t>Washington State CPA | Government grants and public programs | Repeated enterprise friction | BidPilot</a:t>
            </a:r>
          </a:p>
        </p:txBody>
      </p:sp>
      <p:pic>
        <p:nvPicPr>
          <p:cNvPr id="3" name="Rendered visual layer | slide 03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Accounting-Firm + Enterprise Friction · 6 Breakpoints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Accounting-Firm + Enterprise Friction · 6 Breakpoints</a:t>
            </a:r>
          </a:p>
          <a:p>
            <a:pPr>
              <a:defRPr sz="1800">
                <a:latin typeface="Aptos"/>
              </a:defRPr>
            </a:pPr>
            <a:r>
              <a:t>Opportunity | Eligibility | Evidence | Score | Strategy | Ownership | Fixed submission deadline</a:t>
            </a:r>
          </a:p>
        </p:txBody>
      </p:sp>
      <p:pic>
        <p:nvPicPr>
          <p:cNvPr id="3" name="Rendered visual layer | slide 04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Global Public-Sector Pursuit · Shared Operating Pattern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Global Public-Sector Pursuit · Shared Operating Pattern</a:t>
            </a:r>
          </a:p>
          <a:p>
            <a:pPr>
              <a:defRPr sz="1800">
                <a:latin typeface="Aptos"/>
              </a:defRPr>
            </a:pPr>
            <a:r>
              <a:t>Korea G2B | US SAM.gov | EU TED | OECD public procurement | One shared operating pattern</a:t>
            </a:r>
          </a:p>
        </p:txBody>
      </p:sp>
      <p:pic>
        <p:nvPicPr>
          <p:cNvPr id="3" name="Rendered visual layer | slide 05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Verification · Context · Strategy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Verification · Context · Strategy</a:t>
            </a:r>
          </a:p>
          <a:p>
            <a:pPr>
              <a:defRPr sz="1800">
                <a:latin typeface="Aptos"/>
              </a:defRPr>
            </a:pPr>
            <a:r>
              <a:t>Source, eligibility and evidence | Credentials, people, availability and delivery history | Weights, position and owner | PURSUE, REVIEW or NO-GO</a:t>
            </a:r>
          </a:p>
        </p:txBody>
      </p:sp>
      <p:pic>
        <p:nvPicPr>
          <p:cNvPr id="3" name="Rendered visual layer | slide 06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Fluency Is Not Evidence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Fluency Is Not Evidence</a:t>
            </a:r>
          </a:p>
          <a:p>
            <a:pPr>
              <a:defRPr sz="1800">
                <a:latin typeface="Aptos"/>
              </a:defRPr>
            </a:pPr>
            <a:r>
              <a:t>A proposal can sound excellent and still be indefensible</a:t>
            </a:r>
          </a:p>
        </p:txBody>
      </p:sp>
      <p:pic>
        <p:nvPicPr>
          <p:cNvPr id="3" name="Rendered visual layer | slide 07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Should We Bid? · Who Owns What Next?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Should We Bid? · Who Owns What Next?</a:t>
            </a:r>
          </a:p>
          <a:p>
            <a:pPr>
              <a:defRPr sz="1800">
                <a:latin typeface="Aptos"/>
              </a:defRPr>
            </a:pPr>
            <a:r>
              <a:t>Tender | Decision | Win Position | Proposal | Owner | Same run ID persisted and replayable in Snowflake</a:t>
            </a:r>
          </a:p>
        </p:txBody>
      </p:sp>
      <p:pic>
        <p:nvPicPr>
          <p:cNvPr id="3" name="Rendered visual layer | slide 08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Public Tender + Supplier Evidence · Controlled Decision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Public Tender + Supplier Evidence · Controlled Decision</a:t>
            </a:r>
          </a:p>
          <a:p>
            <a:pPr>
              <a:defRPr sz="1800">
                <a:latin typeface="Aptos"/>
              </a:defRPr>
            </a:pPr>
            <a:r>
              <a:t>Real public tender | Synthetic demo supplier profile | Policy gate | Separate historical replay | No silent fixture fallback</a:t>
            </a:r>
          </a:p>
        </p:txBody>
      </p:sp>
      <p:pic>
        <p:nvPicPr>
          <p:cNvPr id="3" name="Rendered visual layer | slide 09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Two Evidence Paths · REVIEW / PURSUE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Two Evidence Paths · REVIEW / PURSUE</a:t>
            </a:r>
          </a:p>
          <a:p>
            <a:pPr>
              <a:defRPr sz="1800">
                <a:latin typeface="Aptos"/>
              </a:defRPr>
            </a:pPr>
            <a:r>
              <a:t>Real Suwon G2B source: REVIEW, four evidence gaps, no run | Separate synthetic replay: PURSUE, 40/30/20/10, three compared and one selected</a:t>
            </a:r>
          </a:p>
        </p:txBody>
      </p:sp>
      <p:pic>
        <p:nvPicPr>
          <p:cNvPr id="3" name="Rendered visual layer | slide 10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40 Points · Changes the Plan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40 Points · Changes the Plan</a:t>
            </a:r>
          </a:p>
          <a:p>
            <a:pPr>
              <a:defRPr sz="1800">
                <a:latin typeface="Aptos"/>
              </a:defRPr>
            </a:pPr>
            <a:r>
              <a:t>Four weighted plans | Selected Win Position | Evidence | Eight proposal sections | Red-team | Twelve named tasks</a:t>
            </a:r>
          </a:p>
        </p:txBody>
      </p:sp>
      <p:pic>
        <p:nvPicPr>
          <p:cNvPr id="3" name="Rendered visual layer | slide 1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Snowflake · Memory That Survives the Meeting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Snowflake · Memory That Survives the Meeting</a:t>
            </a:r>
          </a:p>
          <a:p>
            <a:pPr>
              <a:defRPr sz="1800">
                <a:latin typeface="Aptos"/>
              </a:defRPr>
            </a:pPr>
            <a:r>
              <a:t>Governed join | Least privilege | Durable state | Opportunity Graph | Snowpark policy | Streamlit reader | Same-run readback | Fail closed</a:t>
            </a:r>
          </a:p>
        </p:txBody>
      </p:sp>
      <p:pic>
        <p:nvPicPr>
          <p:cNvPr id="3" name="Rendered visual layer | slide 12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CoCo CLI · Work That Survives the Prompt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CoCo CLI · Work That Survives the Prompt</a:t>
            </a:r>
          </a:p>
          <a:p>
            <a:pPr>
              <a:defRPr sz="1800">
                <a:latin typeface="Aptos"/>
              </a:defRPr>
            </a:pPr>
            <a:r>
              <a:t>Query | Compare | Select | Write | Challenge | Persist | Cortex session and Snowflake query provenance</a:t>
            </a:r>
          </a:p>
        </p:txBody>
      </p:sp>
      <p:pic>
        <p:nvPicPr>
          <p:cNvPr id="3" name="Rendered visual layer | slide 13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Verified Run · 1 → 3 → 4 → 8 → 12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Verified Run · 1 → 3 → 4 → 8 → 12</a:t>
            </a:r>
          </a:p>
          <a:p>
            <a:pPr>
              <a:defRPr sz="1800">
                <a:latin typeface="Aptos"/>
              </a:defRPr>
            </a:pPr>
            <a:r>
              <a:t>One decision | Three strategies | Four weighted plans | Eight sections | Twelve tasks | Internal work ready | Human approval | Legal submission</a:t>
            </a:r>
          </a:p>
        </p:txBody>
      </p:sp>
      <p:pic>
        <p:nvPicPr>
          <p:cNvPr id="3" name="Rendered visual layer | slide 14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core text | Win the score, not the prompt."/>
          <p:cNvSpPr txBox="1"/>
          <p:nvPr/>
        </p:nvSpPr>
        <p:spPr>
          <a:xfrm>
            <a:off x="365760" y="365760"/>
            <a:ext cx="1143000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Aptos Display"/>
              </a:rPr>
              <a:t>Win the score, not the prompt.</a:t>
            </a:r>
          </a:p>
          <a:p>
            <a:pPr>
              <a:defRPr sz="1800">
                <a:latin typeface="Aptos"/>
              </a:defRPr>
            </a:pPr>
            <a:r>
              <a:t>Defensible decision | Weighted strategy | Owned execution | Persisted and replayable in Snowflake</a:t>
            </a:r>
          </a:p>
        </p:txBody>
      </p:sp>
      <p:pic>
        <p:nvPicPr>
          <p:cNvPr id="3" name="Rendered visual layer | slide 15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BidPilot · Snowflake CoCo CLI Hackathon 2026 Grand Finale</dc:title>
  <dc:subject>Fifteen-slide English finale deck</dc:subject>
  <dc:creator>Sergio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