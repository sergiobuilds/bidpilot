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28600"/>
            <a:ext cx="3886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TEN MINUTE FINALE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25880"/>
            <a:ext cx="6400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787D87"/>
                </a:solidFill>
                <a:latin typeface="Liberation Sans"/>
              </a:rPr>
              <a:t>SNOWFLAKE COCO CLI HACKATHON 2026 · GRAND FINALE</a:t>
            </a:r>
          </a:p>
        </p:txBody>
      </p:sp>
      <p:sp>
        <p:nvSpPr>
          <p:cNvPr id="8" name="Editable title"/>
          <p:cNvSpPr txBox="1"/>
          <p:nvPr/>
        </p:nvSpPr>
        <p:spPr>
          <a:xfrm>
            <a:off x="329184" y="1874519"/>
            <a:ext cx="640080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200" b="1">
                <a:solidFill>
                  <a:srgbClr val="F7F8F8"/>
                </a:solidFill>
                <a:latin typeface="Liberation Sans"/>
              </a:rPr>
              <a:t>BidPilot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" y="3154680"/>
            <a:ext cx="530352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3364992"/>
            <a:ext cx="5669280" cy="548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0">
                <a:solidFill>
                  <a:srgbClr val="B0B5BE"/>
                </a:solidFill>
                <a:latin typeface="Liberation Sans"/>
              </a:rPr>
              <a:t>Win the score, not the prompt.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6199632"/>
            <a:ext cx="5943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787D87"/>
                </a:solidFill>
                <a:latin typeface="Liberation Sans"/>
              </a:rPr>
              <a:t>Sergio Lee · Washington State CPA · sergiobuilds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Grand Finale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01 / 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6840" y="283464"/>
            <a:ext cx="45720" cy="45720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25712" y="219456"/>
            <a:ext cx="5029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F7F8F8"/>
                </a:solidFill>
                <a:latin typeface="Liberation Sans"/>
              </a:rPr>
              <a:t>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7776" y="219456"/>
            <a:ext cx="22128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REAL-WORLD RELEVANCE</a:t>
            </a:r>
          </a:p>
        </p:txBody>
      </p:sp>
      <p:sp>
        <p:nvSpPr>
          <p:cNvPr id="9" name="Editable title"/>
          <p:cNvSpPr txBox="1"/>
          <p:nvPr/>
        </p:nvSpPr>
        <p:spPr>
          <a:xfrm>
            <a:off x="329184" y="987552"/>
            <a:ext cx="740664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7F8F8"/>
                </a:solidFill>
                <a:latin typeface="Liberation Sans"/>
              </a:rPr>
              <a:t>The bid is often lost
before writing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3154680"/>
            <a:ext cx="269748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3319272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3611880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F7F8F8"/>
                </a:solidFill>
                <a:latin typeface="Liberation Sans"/>
              </a:rPr>
              <a:t>Eligibility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4041648"/>
            <a:ext cx="242316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Can this supplier credibly bid.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18688" y="3154680"/>
            <a:ext cx="269748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319272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3611880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F7F8F8"/>
                </a:solidFill>
                <a:latin typeface="Liberation Sans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4041648"/>
            <a:ext cx="242316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Where the official weight sits.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8192" y="3154680"/>
            <a:ext cx="269748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319272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8192" y="3611880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F7F8F8"/>
                </a:solidFill>
                <a:latin typeface="Liberation Sans"/>
              </a:rP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8192" y="4041648"/>
            <a:ext cx="242316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What the supplier can prove.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7696" y="3154680"/>
            <a:ext cx="2697479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7696" y="3319272"/>
            <a:ext cx="365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611880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F7F8F8"/>
                </a:solidFill>
                <a:latin typeface="Liberation Sans"/>
              </a:rPr>
              <a:t>Ownership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4041648"/>
            <a:ext cx="242316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Who is accountable for the work.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" y="5074920"/>
            <a:ext cx="96926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787D87"/>
                </a:solidFill>
                <a:latin typeface="Liberation Sans"/>
              </a:rPr>
              <a:t>Proposal teams commit resources before the buyer’s score and the supplier’s proof agree.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The problem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02 / 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28600"/>
            <a:ext cx="3886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THE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title"/>
          <p:cNvSpPr txBox="1"/>
          <p:nvPr/>
        </p:nvSpPr>
        <p:spPr>
          <a:xfrm>
            <a:off x="329184" y="1161288"/>
            <a:ext cx="1078992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00" b="1">
                <a:solidFill>
                  <a:srgbClr val="F7F8F8"/>
                </a:solidFill>
                <a:latin typeface="Liberation Sans"/>
              </a:rPr>
              <a:t>One accountable 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" y="2423160"/>
            <a:ext cx="2249424" cy="420624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14600"/>
            <a:ext cx="2029967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public tender + supplier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7" y="2523744"/>
            <a:ext cx="228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423160"/>
            <a:ext cx="2057400" cy="420624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8648" y="2514600"/>
            <a:ext cx="183794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PURSUE · REVIEW · NO-GO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23744"/>
            <a:ext cx="228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81528"/>
            <a:ext cx="2322576" cy="420624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72968"/>
            <a:ext cx="21031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score-weighted Win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3" y="3182112"/>
            <a:ext cx="228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18688" y="3081528"/>
            <a:ext cx="1984248" cy="420624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28416" y="3172968"/>
            <a:ext cx="176479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evidence-bound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8655" y="3182112"/>
            <a:ext cx="228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3081528"/>
            <a:ext cx="1051560" cy="420624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0408" y="3172968"/>
            <a:ext cx="83210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red-team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182112"/>
            <a:ext cx="228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3739896"/>
            <a:ext cx="1234440" cy="420624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38528" y="3831335"/>
            <a:ext cx="101498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owned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3840480"/>
            <a:ext cx="228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3739896"/>
            <a:ext cx="2331720" cy="420624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831335"/>
            <a:ext cx="211226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same-run Snowflake readback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" y="4617720"/>
            <a:ext cx="795527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787D87"/>
                </a:solidFill>
                <a:latin typeface="Liberation Sans"/>
              </a:rPr>
              <a:t>A general LLM summarizes. BidPilot preserves the decision and execution contract.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What the product 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03 / 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6840" y="283464"/>
            <a:ext cx="45720" cy="45720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25712" y="219456"/>
            <a:ext cx="5029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F7F8F8"/>
                </a:solidFill>
                <a:latin typeface="Liberation Sans"/>
              </a:rPr>
              <a:t>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7776" y="219456"/>
            <a:ext cx="22128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REAL-WORLD RELEVANCE</a:t>
            </a:r>
          </a:p>
        </p:txBody>
      </p:sp>
      <p:sp>
        <p:nvSpPr>
          <p:cNvPr id="9" name="Editable title"/>
          <p:cNvSpPr txBox="1"/>
          <p:nvPr/>
        </p:nvSpPr>
        <p:spPr>
          <a:xfrm>
            <a:off x="329184" y="1005840"/>
            <a:ext cx="365760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>
                <a:solidFill>
                  <a:srgbClr val="F7F8F8"/>
                </a:solidFill>
                <a:latin typeface="Liberation Sans"/>
              </a:rPr>
              <a:t>REVIEW is a
trusted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3410712"/>
            <a:ext cx="33375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962656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26080"/>
            <a:ext cx="29535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Real public tender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" y="3941064"/>
            <a:ext cx="33375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3493008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456432"/>
            <a:ext cx="29535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Synthetic demo supplier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" y="4471416"/>
            <a:ext cx="33375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4023360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986784"/>
            <a:ext cx="29535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4 evidence gaps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" y="5001768"/>
            <a:ext cx="33375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4553712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517136"/>
            <a:ext cx="29535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No run created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758952"/>
            <a:ext cx="374903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787D87"/>
                </a:solidFill>
                <a:latin typeface="Liberation Mono"/>
              </a:rPr>
              <a:t>LIVE PRODUCT · TENDER DETAIL</a:t>
            </a:r>
          </a:p>
        </p:txBody>
      </p:sp>
      <p:pic>
        <p:nvPicPr>
          <p:cNvPr id="23" name="Picture 22" descr="tender.png"/>
          <p:cNvPicPr>
            <a:picLocks noChangeAspect="1"/>
          </p:cNvPicPr>
          <p:nvPr/>
        </p:nvPicPr>
        <p:blipFill>
          <a:blip r:embed="rId2"/>
          <a:srcRect l="5236" r="5236"/>
          <a:stretch>
            <a:fillRect/>
          </a:stretch>
        </p:blipFill>
        <p:spPr>
          <a:xfrm>
            <a:off x="4572000" y="1033271"/>
            <a:ext cx="7269480" cy="50749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Live demonstration · real source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04 / 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6840" y="283464"/>
            <a:ext cx="45720" cy="45720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25712" y="219456"/>
            <a:ext cx="5029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F7F8F8"/>
                </a:solidFill>
                <a:latin typeface="Liberation Sans"/>
              </a:rPr>
              <a:t>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7776" y="219456"/>
            <a:ext cx="22128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SOLUTION COMPLETENESS</a:t>
            </a:r>
          </a:p>
        </p:txBody>
      </p:sp>
      <p:sp>
        <p:nvSpPr>
          <p:cNvPr id="9" name="Editable title"/>
          <p:cNvSpPr txBox="1"/>
          <p:nvPr/>
        </p:nvSpPr>
        <p:spPr>
          <a:xfrm>
            <a:off x="329184" y="850392"/>
            <a:ext cx="640080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500" b="1">
                <a:solidFill>
                  <a:srgbClr val="F7F8F8"/>
                </a:solidFill>
                <a:latin typeface="Liberation Sans"/>
              </a:rPr>
              <a:t>Separate verified replay.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950976"/>
            <a:ext cx="44805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Mono"/>
              </a:rPr>
              <a:t>SEPARATE SYNTHETIC HISTORICAL REPLAY</a:t>
            </a:r>
          </a:p>
        </p:txBody>
      </p:sp>
      <p:pic>
        <p:nvPicPr>
          <p:cNvPr id="11" name="Picture 10" descr="walkthrough.png"/>
          <p:cNvPicPr>
            <a:picLocks noChangeAspect="1"/>
          </p:cNvPicPr>
          <p:nvPr/>
        </p:nvPicPr>
        <p:blipFill>
          <a:blip r:embed="rId2"/>
          <a:srcRect t="23651" b="23651"/>
          <a:stretch>
            <a:fillRect/>
          </a:stretch>
        </p:blipFill>
        <p:spPr>
          <a:xfrm>
            <a:off x="329184" y="1874519"/>
            <a:ext cx="11521440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9184" y="5806440"/>
            <a:ext cx="13258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PURSUE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5806440"/>
            <a:ext cx="13258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40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5806440"/>
            <a:ext cx="13258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3 compared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5806440"/>
            <a:ext cx="13258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F7F8F8"/>
                </a:solidFill>
                <a:latin typeface="Liberation Sans"/>
              </a:rPr>
              <a:t>1 selected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Live demonstration · verified replay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05 / 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6840" y="283464"/>
            <a:ext cx="45720" cy="45720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25712" y="219456"/>
            <a:ext cx="5029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F7F8F8"/>
                </a:solidFill>
                <a:latin typeface="Liberation Sans"/>
              </a:rPr>
              <a:t>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7776" y="219456"/>
            <a:ext cx="22128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SOLUTION COMPLETENESS</a:t>
            </a:r>
          </a:p>
        </p:txBody>
      </p:sp>
      <p:sp>
        <p:nvSpPr>
          <p:cNvPr id="9" name="Editable title"/>
          <p:cNvSpPr txBox="1"/>
          <p:nvPr/>
        </p:nvSpPr>
        <p:spPr>
          <a:xfrm>
            <a:off x="329184" y="841248"/>
            <a:ext cx="475488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F7F8F8"/>
                </a:solidFill>
                <a:latin typeface="Liberation Sans"/>
              </a:rPr>
              <a:t>The score controls
the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207008"/>
            <a:ext cx="37947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877824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841248"/>
            <a:ext cx="3410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F7F8F8"/>
                </a:solidFill>
                <a:latin typeface="Liberation Sans"/>
              </a:rPr>
              <a:t>4 weighted plans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18488"/>
            <a:ext cx="37947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289304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1252728"/>
            <a:ext cx="3410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F7F8F8"/>
                </a:solidFill>
                <a:latin typeface="Liberation Sans"/>
              </a:rPr>
              <a:t>8 proposal sections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029968"/>
            <a:ext cx="37947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700784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1664208"/>
            <a:ext cx="3410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F7F8F8"/>
                </a:solidFill>
                <a:latin typeface="Liberation Sans"/>
              </a:rPr>
              <a:t>Red-team passed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441448"/>
            <a:ext cx="379476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112264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2075688"/>
            <a:ext cx="341071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F7F8F8"/>
                </a:solidFill>
                <a:latin typeface="Liberation Sans"/>
              </a:rPr>
              <a:t>12 owned and review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2423160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REPLAY · PROPOSAL AND RED-TEAM</a:t>
            </a:r>
          </a:p>
        </p:txBody>
      </p:sp>
      <p:pic>
        <p:nvPicPr>
          <p:cNvPr id="23" name="Picture 22" descr="replay-03.png"/>
          <p:cNvPicPr>
            <a:picLocks noChangeAspect="1"/>
          </p:cNvPicPr>
          <p:nvPr/>
        </p:nvPicPr>
        <p:blipFill>
          <a:blip r:embed="rId2"/>
          <a:srcRect t="39524" b="39524"/>
          <a:stretch>
            <a:fillRect/>
          </a:stretch>
        </p:blipFill>
        <p:spPr>
          <a:xfrm>
            <a:off x="329184" y="2679192"/>
            <a:ext cx="1152144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9184" y="4361688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REPLAY · OWNED WORK</a:t>
            </a:r>
          </a:p>
        </p:txBody>
      </p:sp>
      <p:pic>
        <p:nvPicPr>
          <p:cNvPr id="25" name="Picture 24" descr="replay-04.png"/>
          <p:cNvPicPr>
            <a:picLocks noChangeAspect="1"/>
          </p:cNvPicPr>
          <p:nvPr/>
        </p:nvPicPr>
        <p:blipFill>
          <a:blip r:embed="rId3"/>
          <a:srcRect t="40159" b="40159"/>
          <a:stretch>
            <a:fillRect/>
          </a:stretch>
        </p:blipFill>
        <p:spPr>
          <a:xfrm>
            <a:off x="329184" y="4617720"/>
            <a:ext cx="11521440" cy="14173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Live demonstration · execution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06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6840" y="283464"/>
            <a:ext cx="45720" cy="45720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25712" y="219456"/>
            <a:ext cx="5029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F7F8F8"/>
                </a:solidFill>
                <a:latin typeface="Liberation Sans"/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7776" y="219456"/>
            <a:ext cx="22128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TECHNICAL EXECUTION</a:t>
            </a:r>
          </a:p>
        </p:txBody>
      </p:sp>
      <p:sp>
        <p:nvSpPr>
          <p:cNvPr id="9" name="Editable title"/>
          <p:cNvSpPr txBox="1"/>
          <p:nvPr/>
        </p:nvSpPr>
        <p:spPr>
          <a:xfrm>
            <a:off x="329184" y="960120"/>
            <a:ext cx="640080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900" b="1">
                <a:solidFill>
                  <a:srgbClr val="F7F8F8"/>
                </a:solidFill>
                <a:latin typeface="Liberation Sans"/>
              </a:rPr>
              <a:t>Snowflake is the
operating memory.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3291840"/>
            <a:ext cx="269748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3456432"/>
            <a:ext cx="24688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01 · 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3794760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F7F8F8"/>
                </a:solidFill>
                <a:latin typeface="Liberation Sans"/>
              </a:rPr>
              <a:t>Opportunity
Graph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9544" y="3291840"/>
            <a:ext cx="269748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3456432"/>
            <a:ext cx="24688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02 · GOVERN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3794760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F7F8F8"/>
                </a:solidFill>
                <a:latin typeface="Liberation Sans"/>
              </a:rPr>
              <a:t>Snowpark policy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3291840"/>
            <a:ext cx="2697479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3456432"/>
            <a:ext cx="24688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03 ·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3794760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F7F8F8"/>
                </a:solidFill>
                <a:latin typeface="Liberation Sans"/>
              </a:rPr>
              <a:t>Cortex Code CLI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0263" y="3291840"/>
            <a:ext cx="2697479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3" y="3456432"/>
            <a:ext cx="24688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E6AD2"/>
                </a:solidFill>
                <a:latin typeface="Liberation Mono"/>
              </a:rPr>
              <a:t>04 · 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0263" y="3794760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F7F8F8"/>
                </a:solidFill>
                <a:latin typeface="Liberation Sans"/>
              </a:rPr>
              <a:t>Streamlit reader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937760"/>
            <a:ext cx="3520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B0B5BE"/>
                </a:solidFill>
                <a:latin typeface="Liberation Sans"/>
              </a:rPr>
              <a:t>Versioned tender + governed supplier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664" y="4937760"/>
            <a:ext cx="3520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B0B5BE"/>
                </a:solidFill>
                <a:latin typeface="Liberation Sans"/>
              </a:rPr>
              <a:t>Runner writes. Reader replays complete runs.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4937760"/>
            <a:ext cx="3520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B0B5BE"/>
                </a:solidFill>
                <a:latin typeface="Liberation Sans"/>
              </a:rPr>
              <a:t>Authenticated failures fail closed.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07 / 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06840" y="283464"/>
            <a:ext cx="45720" cy="45720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25712" y="219456"/>
            <a:ext cx="5029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F7F8F8"/>
                </a:solidFill>
                <a:latin typeface="Liberation Sans"/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7776" y="219456"/>
            <a:ext cx="22128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TECHNICAL EXECUTION</a:t>
            </a:r>
          </a:p>
        </p:txBody>
      </p:sp>
      <p:sp>
        <p:nvSpPr>
          <p:cNvPr id="9" name="Editable title"/>
          <p:cNvSpPr txBox="1"/>
          <p:nvPr/>
        </p:nvSpPr>
        <p:spPr>
          <a:xfrm>
            <a:off x="329184" y="1444752"/>
            <a:ext cx="1078992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200" b="1">
                <a:solidFill>
                  <a:srgbClr val="F7F8F8"/>
                </a:solidFill>
                <a:latin typeface="Liberation Sans"/>
              </a:rPr>
              <a:t>One recorded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2971800"/>
            <a:ext cx="210312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3136392"/>
            <a:ext cx="182880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200" b="1">
                <a:solidFill>
                  <a:srgbClr val="F7F8F8"/>
                </a:solidFill>
                <a:latin typeface="Liberatio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3904487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42615" y="2971800"/>
            <a:ext cx="210312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2615" y="3136392"/>
            <a:ext cx="182880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200" b="1">
                <a:solidFill>
                  <a:srgbClr val="F7F8F8"/>
                </a:solidFill>
                <a:latin typeface="Liberation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904487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strategies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2971800"/>
            <a:ext cx="210312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136392"/>
            <a:ext cx="182880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200" b="1">
                <a:solidFill>
                  <a:srgbClr val="F7F8F8"/>
                </a:solidFill>
                <a:latin typeface="Liberation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904487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plans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971800"/>
            <a:ext cx="210312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136392"/>
            <a:ext cx="182880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200" b="1">
                <a:solidFill>
                  <a:srgbClr val="F7F8F8"/>
                </a:solidFill>
                <a:latin typeface="Liberation Sans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904487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sections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82911" y="2971800"/>
            <a:ext cx="2103119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1" y="3136392"/>
            <a:ext cx="182880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200" b="1">
                <a:solidFill>
                  <a:srgbClr val="F7F8F8"/>
                </a:solidFill>
                <a:latin typeface="Liberation Sans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1" y="3904487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tasks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4736592"/>
            <a:ext cx="2331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828CFF"/>
                </a:solidFill>
                <a:latin typeface="Liberation Mono"/>
              </a:rPr>
              <a:t>cortex-final-20260802-a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4736592"/>
            <a:ext cx="68580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787D87"/>
                </a:solidFill>
                <a:latin typeface="Liberation Mono"/>
              </a:rPr>
              <a:t>Cortex session + Snowflake query provenance · same run_id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Provenance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08 / 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28600"/>
            <a:ext cx="3886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SAFETY AND BUYER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title"/>
          <p:cNvSpPr txBox="1"/>
          <p:nvPr/>
        </p:nvSpPr>
        <p:spPr>
          <a:xfrm>
            <a:off x="329184" y="1261872"/>
            <a:ext cx="7498079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7F8F8"/>
                </a:solidFill>
                <a:latin typeface="Liberation Sans"/>
              </a:rPr>
              <a:t>Human approval stays
in the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" y="3337560"/>
            <a:ext cx="1389888" cy="429768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3" y="3456432"/>
            <a:ext cx="120700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Source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2224" y="3456432"/>
            <a:ext cx="164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3337560"/>
            <a:ext cx="1700784" cy="429768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3456432"/>
            <a:ext cx="151790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Supplier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616" y="3456432"/>
            <a:ext cx="164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5072" y="3337560"/>
            <a:ext cx="960120" cy="429768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96512" y="3456432"/>
            <a:ext cx="777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3456432"/>
            <a:ext cx="164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3337560"/>
            <a:ext cx="1078992" cy="429768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3456432"/>
            <a:ext cx="89611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Final edit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3456432"/>
            <a:ext cx="164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787D87"/>
                </a:solidFill>
                <a:latin typeface="Liberation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3337560"/>
            <a:ext cx="1572768" cy="429768"/>
          </a:xfrm>
          <a:prstGeom prst="roundRect">
            <a:avLst/>
          </a:prstGeom>
          <a:solidFill>
            <a:srgbClr val="0F1011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456432"/>
            <a:ext cx="13898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7F8F8"/>
                </a:solidFill>
                <a:latin typeface="Liberation Sans"/>
              </a:rPr>
              <a:t>Legal submission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251960"/>
            <a:ext cx="9418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787D87"/>
                </a:solidFill>
                <a:latin typeface="Liberation Sans"/>
              </a:rPr>
              <a:t>BidPilot prepares and governs the work. The first buyer is a small B2G proposal team.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4736592"/>
            <a:ext cx="76809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B0B5BE"/>
                </a:solidFill>
                <a:latin typeface="Liberation Sans"/>
              </a:rPr>
              <a:t>Commercial path: team subscription + usage-based runs.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Human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09 / 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1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solidFill>
              <a:srgbClr val="010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9184" y="292608"/>
            <a:ext cx="82296" cy="82296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6344" y="2286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BIDPILOT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28600"/>
            <a:ext cx="3886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B0B5BE"/>
                </a:solidFill>
                <a:latin typeface="Liberation Sans"/>
              </a:rPr>
              <a:t>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557784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title"/>
          <p:cNvSpPr txBox="1"/>
          <p:nvPr/>
        </p:nvSpPr>
        <p:spPr>
          <a:xfrm>
            <a:off x="329184" y="932688"/>
            <a:ext cx="731520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500" b="1">
                <a:solidFill>
                  <a:srgbClr val="F7F8F8"/>
                </a:solidFill>
                <a:latin typeface="Liberation Sans"/>
              </a:rPr>
              <a:t>Win the score,
not the prompt.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3136392"/>
            <a:ext cx="804672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" y="3986784"/>
            <a:ext cx="667512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3538728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502152"/>
            <a:ext cx="62910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F7F8F8"/>
                </a:solidFill>
                <a:latin typeface="Liberation Sans"/>
              </a:rPr>
              <a:t>A defensible pursuit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" y="4517136"/>
            <a:ext cx="667512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4069080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032504"/>
            <a:ext cx="62910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F7F8F8"/>
                </a:solidFill>
                <a:latin typeface="Liberation Sans"/>
              </a:rPr>
              <a:t>A score-weighted win strategy.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" y="5047488"/>
            <a:ext cx="6675120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4599432"/>
            <a:ext cx="3200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787D87"/>
                </a:solidFill>
                <a:latin typeface="Liberation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62856"/>
            <a:ext cx="629107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F7F8F8"/>
                </a:solidFill>
                <a:latin typeface="Liberation Sans"/>
              </a:rPr>
              <a:t>Execution-ready proposal 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5989320"/>
            <a:ext cx="50292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787D87"/>
                </a:solidFill>
                <a:latin typeface="Liberation Sans"/>
              </a:rPr>
              <a:t>Persisted and replayable in Snowflake.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" y="6473952"/>
            <a:ext cx="11530584" cy="12700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6528816"/>
            <a:ext cx="6858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787D87"/>
                </a:solidFill>
                <a:latin typeface="Liberation Sans"/>
              </a:rPr>
              <a:t>BidPilot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28816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7F8F8"/>
                </a:solidFill>
                <a:latin typeface="Liberation Mono"/>
              </a:rPr>
              <a:t>10 /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8132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3347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8561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37760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9904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2048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94192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46336" y="6793992"/>
            <a:ext cx="1097280" cy="18288"/>
          </a:xfrm>
          <a:prstGeom prst="rect">
            <a:avLst/>
          </a:prstGeom>
          <a:solidFill>
            <a:srgbClr val="23252A"/>
          </a:solidFill>
          <a:ln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98480" y="6793992"/>
            <a:ext cx="1097280" cy="18288"/>
          </a:xfrm>
          <a:prstGeom prst="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